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2" r:id="rId5"/>
    <p:sldId id="263" r:id="rId6"/>
    <p:sldId id="261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81" r:id="rId18"/>
    <p:sldId id="282" r:id="rId19"/>
    <p:sldId id="259" r:id="rId20"/>
  </p:sldIdLst>
  <p:sldSz cx="12192000" cy="6858000"/>
  <p:notesSz cx="6858000" cy="9144000"/>
  <p:embeddedFontLst>
    <p:embeddedFont>
      <p:font typeface="Arial Black" panose="020B0A04020102020204" pitchFamily="34" charset="0"/>
      <p:bold r:id="rId22"/>
    </p:embeddedFont>
    <p:embeddedFont>
      <p:font typeface="Lato Black" panose="020F0502020204030203" pitchFamily="34" charset="0"/>
      <p:bold r:id="rId23"/>
      <p:boldItalic r:id="rId24"/>
    </p:embeddedFont>
    <p:embeddedFont>
      <p:font typeface="Libre Baskerville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7477A52-A40B-4B38-A189-32219EA9CEEB}">
          <p14:sldIdLst>
            <p14:sldId id="256"/>
            <p14:sldId id="257"/>
            <p14:sldId id="258"/>
            <p14:sldId id="262"/>
            <p14:sldId id="263"/>
            <p14:sldId id="261"/>
          </p14:sldIdLst>
        </p14:section>
        <p14:section name="Untitled Section" id="{9C8D48F2-BD57-4173-8DB0-3EC28CE28CC2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81"/>
            <p14:sldId id="282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90" autoAdjust="0"/>
  </p:normalViewPr>
  <p:slideViewPr>
    <p:cSldViewPr snapToGrid="0">
      <p:cViewPr varScale="1">
        <p:scale>
          <a:sx n="77" d="100"/>
          <a:sy n="77" d="100"/>
        </p:scale>
        <p:origin x="8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8533F061-3C78-4D3D-7816-BB978843C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2C97009B-DEBC-50C9-3D52-3EF244B69B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7A933C18-2019-63DF-2E74-6DF795C68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240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B197750-5EA6-7EB7-80FA-BEEE68974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BEC47A0-979D-B7DB-8D98-E1C077E05B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948EC7F-639F-088C-3777-55F59FCCFD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205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9DB9E71-4873-E6A5-EF81-DF0E971E6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7920884-D794-75D7-05E0-1874B61A43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E38DB36-9C79-E62C-D0EB-2809FB8C80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4831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9D58FFE5-3646-ADE4-0709-C98B72196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A1331C3C-097C-8D8E-7923-B0310070C5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7A3FE3F-5E4E-2A40-74D8-4CD8A03739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1358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BB424CB7-E7B2-92DD-EE57-25206ED1E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3CD3D2C3-4ECB-5B5F-08F8-92D192DFDB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E37E46-3C4E-AF25-324B-372415F9C4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350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669B90A-77A2-516E-F1C0-01F3AF45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EE78CF2C-822B-AAE9-B72D-8FBF2FE36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29AB85B-20AA-88D8-EE48-49F78BC37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572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4AA8885-2C61-EDD5-F453-F5EA75FD9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F971D050-687E-A40F-AEF4-EDC7BE5DF4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B1D3DEF9-DB0C-99B1-5E29-2EF3A88DC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555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33AF07FA-F6B1-0B1A-9EB9-F45ED8687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0FFFE3DE-25FF-CC72-432C-28147F5601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A45718E6-17EA-096F-C77C-4BCE15585A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602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088007D-EC88-FE98-1D7F-1E8C4B96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D726DE2A-5BAB-53E3-8D88-4518E1997B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B30D55E-05D7-6CAF-368D-643549A43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817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7BA065E-A5C1-17ED-0FE1-23F6FF5A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89B252A-D098-408F-550A-9880A74C7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C22DACF4-A72D-C4C4-559B-681A32E580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5294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F4896E02-D2B5-ABA3-14ED-3A75D5F4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7229866-71F1-C2BA-18A6-390B88B0B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0B9DA34-EE29-6AB7-A071-CA0171CEB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5551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D235B961-29DE-CDBE-2940-9E1767E7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62BD14CB-8F9E-B681-0DCD-DD7F715DE1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9392C4C0-AC1C-FA3B-AB61-D8C5FB10E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1065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AA461E30-E23C-52E3-AFDD-E5AC7992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5E44FE3-14F8-8C78-FD8F-8E5ED96AC6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6000C1D3-6912-880B-EB3E-8FB607A734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264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0DDC844A-8F9A-E1A5-132B-291391B6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5D49E7BC-E12F-8ADF-40AC-CB8488697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F280924D-876C-3421-7BD9-EAF595E161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2497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7CC874A4-D437-C970-31A9-9C86686F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40302A0A-349C-42AE-5025-120245A786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012BD57-5065-C72A-EE11-B21CD41B0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1864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sri-vardhan-alugu-68368835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in/alasapuri-likhith-srikar" TargetMode="External"/><Relationship Id="rId4" Type="http://schemas.openxmlformats.org/officeDocument/2006/relationships/hyperlink" Target="https://www.linkedin.com/in/nagapraneeth24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C7D3EF6-3F7D-9B5C-EE93-4C1C86064FE7}"/>
              </a:ext>
            </a:extLst>
          </p:cNvPr>
          <p:cNvSpPr txBox="1"/>
          <p:nvPr/>
        </p:nvSpPr>
        <p:spPr>
          <a:xfrm>
            <a:off x="3046955" y="4505794"/>
            <a:ext cx="60939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Employee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842384" y="854766"/>
            <a:ext cx="10507232" cy="733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A. SRIVARDHAN : </a:t>
            </a:r>
            <a:r>
              <a:rPr lang="en-GB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Completed </a:t>
            </a:r>
            <a:r>
              <a:rPr lang="en-GB" sz="240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GB" sz="2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CSE</a:t>
            </a:r>
            <a:endParaRPr lang="en-GB"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GB" sz="24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r>
              <a:rPr lang="en-GB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lang="en-GB" sz="2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 in :- </a:t>
            </a:r>
            <a:r>
              <a:rPr lang="en-IN" sz="2000" u="sng" dirty="0">
                <a:hlinkClick r:id="rId3"/>
              </a:rPr>
              <a:t>ALUGU SRIVARDHAN | LINKEDIN</a:t>
            </a:r>
            <a:endParaRPr lang="en-IN" sz="2000" dirty="0"/>
          </a:p>
          <a:p>
            <a:pPr lvl="0">
              <a:buClr>
                <a:schemeClr val="dk1"/>
              </a:buClr>
              <a:buSzPts val="2400"/>
            </a:pPr>
            <a:endParaRPr lang="en-IN" sz="2800" dirty="0"/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GB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NAGA PRANEETH: </a:t>
            </a:r>
            <a:r>
              <a:rPr lang="en-GB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Completed </a:t>
            </a:r>
            <a:r>
              <a:rPr lang="en-GB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GB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IT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GB"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GB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Linked in </a:t>
            </a:r>
            <a:r>
              <a:rPr lang="en-GB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:- </a:t>
            </a:r>
            <a:r>
              <a:rPr lang="en-IN" sz="2000" dirty="0"/>
              <a:t>     </a:t>
            </a:r>
            <a:r>
              <a:rPr lang="en-IN" sz="2000" u="sng" dirty="0">
                <a:hlinkClick r:id="rId4"/>
              </a:rPr>
              <a:t>NAGA PRANEETH | LINKEDIN</a:t>
            </a:r>
            <a:endParaRPr lang="en-IN" sz="2000" dirty="0"/>
          </a:p>
          <a:p>
            <a:pPr lvl="0">
              <a:buClr>
                <a:schemeClr val="dk1"/>
              </a:buClr>
              <a:buSzPts val="2400"/>
            </a:pPr>
            <a:endParaRPr lang="en-GB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lang="en-GB"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en-GB" sz="32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 ALASAPURI SRIKAR:- </a:t>
            </a:r>
            <a:r>
              <a:rPr lang="en-GB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Completed </a:t>
            </a:r>
            <a:r>
              <a:rPr lang="en-GB" sz="280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</a:t>
            </a:r>
            <a:r>
              <a:rPr lang="en-GB" sz="28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GB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</a:t>
            </a:r>
            <a:endParaRPr lang="en-GB" sz="28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chemeClr val="dk1"/>
              </a:buClr>
              <a:buSzPts val="2400"/>
            </a:pPr>
            <a:endParaRPr lang="en-GB"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GB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Linked in :-   </a:t>
            </a:r>
            <a:r>
              <a:rPr lang="en-IN" sz="2400" dirty="0"/>
              <a:t> </a:t>
            </a:r>
            <a:r>
              <a:rPr lang="en-IN" sz="2400" u="sng" dirty="0">
                <a:hlinkClick r:id="rId5"/>
              </a:rPr>
              <a:t>SRIKAR ALASAPURI</a:t>
            </a:r>
            <a:endParaRPr lang="en-IN" sz="2400" dirty="0"/>
          </a:p>
          <a:p>
            <a:pPr>
              <a:buClr>
                <a:schemeClr val="dk1"/>
              </a:buClr>
              <a:buSzPts val="2400"/>
            </a:pPr>
            <a:endParaRPr lang="en-GB"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chemeClr val="dk1"/>
              </a:buClr>
              <a:buSzPts val="2400"/>
            </a:pPr>
            <a:endParaRPr lang="en-GB" sz="24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endParaRPr lang="en-GB" sz="32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37930" y="212594"/>
            <a:ext cx="6189326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Us</a:t>
            </a:r>
            <a:r>
              <a:rPr lang="en-IN" sz="3200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 :-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A2FB95-36F1-4FE4-B0E6-1B532D350F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07" y="1005793"/>
            <a:ext cx="469349" cy="469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AC2A54-309C-428E-B64D-AD4D5B931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255" y="3009736"/>
            <a:ext cx="469349" cy="4693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63278D-E107-4E07-B44A-E758F5E87C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90" y="5224611"/>
            <a:ext cx="505781" cy="5057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112A9B-3476-40A3-9367-F90B351180CE}"/>
              </a:ext>
            </a:extLst>
          </p:cNvPr>
          <p:cNvCxnSpPr/>
          <p:nvPr/>
        </p:nvCxnSpPr>
        <p:spPr>
          <a:xfrm>
            <a:off x="746975" y="788643"/>
            <a:ext cx="7064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8791421-70DD-4607-9963-413963CA8E42}"/>
              </a:ext>
            </a:extLst>
          </p:cNvPr>
          <p:cNvCxnSpPr/>
          <p:nvPr/>
        </p:nvCxnSpPr>
        <p:spPr>
          <a:xfrm>
            <a:off x="842384" y="5021109"/>
            <a:ext cx="7064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D9B532-AC88-D347-1401-A6A84420DE24}"/>
              </a:ext>
            </a:extLst>
          </p:cNvPr>
          <p:cNvCxnSpPr/>
          <p:nvPr/>
        </p:nvCxnSpPr>
        <p:spPr>
          <a:xfrm>
            <a:off x="842384" y="2778178"/>
            <a:ext cx="706494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 dirty="0">
                <a:solidFill>
                  <a:srgbClr val="FF0000"/>
                </a:solidFill>
              </a:rPr>
              <a:t>Agenda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Objective of the Project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Key analysis questions (use cases)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Conclusion (Key finding overall)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Q&amp;A Slide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endParaRPr sz="2400" dirty="0"/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 b="1" dirty="0"/>
              <a:t>Your Experience/Challenges working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5FF9B54-63FE-ED4B-6521-53B2A860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A91292-5275-F309-71A5-7DFB0A0C1CA0}"/>
              </a:ext>
            </a:extLst>
          </p:cNvPr>
          <p:cNvSpPr txBox="1"/>
          <p:nvPr/>
        </p:nvSpPr>
        <p:spPr>
          <a:xfrm>
            <a:off x="198783" y="626166"/>
            <a:ext cx="11891617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Manage Employee Information</a:t>
            </a:r>
            <a:r>
              <a:rPr lang="en-IN" sz="1800" dirty="0"/>
              <a:t> </a:t>
            </a:r>
          </a:p>
          <a:p>
            <a:pPr lvl="1"/>
            <a:r>
              <a:rPr lang="en-IN" sz="1600" dirty="0"/>
              <a:t>Store employee personal, contact, and login details. </a:t>
            </a:r>
          </a:p>
          <a:p>
            <a:pPr lvl="1"/>
            <a:r>
              <a:rPr lang="en-IN" sz="1600" dirty="0"/>
              <a:t>Maintain unique employee records for easy retrieval and management. </a:t>
            </a:r>
          </a:p>
          <a:p>
            <a:pPr lvl="1"/>
            <a:endParaRPr lang="en-IN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Manage Job Roles and Departments</a:t>
            </a:r>
            <a:r>
              <a:rPr lang="en-IN" sz="1800" dirty="0"/>
              <a:t> </a:t>
            </a:r>
          </a:p>
          <a:p>
            <a:pPr lvl="1"/>
            <a:r>
              <a:rPr lang="en-IN" sz="1600" dirty="0"/>
              <a:t>Assign employees to appropriate job positions. </a:t>
            </a:r>
          </a:p>
          <a:p>
            <a:pPr lvl="1"/>
            <a:r>
              <a:rPr lang="en-IN" sz="1600" dirty="0"/>
              <a:t>Organize job roles according to different departments. </a:t>
            </a:r>
          </a:p>
          <a:p>
            <a:pPr lvl="1"/>
            <a:r>
              <a:rPr lang="en-IN" sz="1600" dirty="0"/>
              <a:t>Maintain salary ranges associated with job roles. </a:t>
            </a:r>
          </a:p>
          <a:p>
            <a:pPr lvl="0"/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Manage Salary and Payroll</a:t>
            </a:r>
            <a:r>
              <a:rPr lang="en-IN" sz="1800" dirty="0"/>
              <a:t> </a:t>
            </a:r>
          </a:p>
          <a:p>
            <a:pPr lvl="1"/>
            <a:r>
              <a:rPr lang="en-IN" sz="1600" dirty="0"/>
              <a:t>Store employee salary and bonus information. </a:t>
            </a:r>
          </a:p>
          <a:p>
            <a:pPr lvl="1"/>
            <a:r>
              <a:rPr lang="en-IN" sz="1600" dirty="0"/>
              <a:t>Calculate payroll amounts based on salary and other applicable factors. </a:t>
            </a:r>
          </a:p>
          <a:p>
            <a:pPr lvl="1"/>
            <a:r>
              <a:rPr lang="en-IN" sz="1600" dirty="0"/>
              <a:t>Maintain accurate payroll records for each employee. </a:t>
            </a:r>
          </a:p>
          <a:p>
            <a:pPr lvl="0"/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Track Qualifications and Skills</a:t>
            </a:r>
            <a:r>
              <a:rPr lang="en-IN" sz="1800" dirty="0"/>
              <a:t> </a:t>
            </a:r>
          </a:p>
          <a:p>
            <a:pPr lvl="1"/>
            <a:r>
              <a:rPr lang="en-IN" sz="1600" dirty="0"/>
              <a:t>Store employee qualifications, certifications, and required skills. </a:t>
            </a:r>
          </a:p>
          <a:p>
            <a:pPr lvl="1"/>
            <a:r>
              <a:rPr lang="en-IN" sz="1600" dirty="0"/>
              <a:t>Compare employee qualifications with job requirements. </a:t>
            </a:r>
          </a:p>
          <a:p>
            <a:pPr lvl="1"/>
            <a:r>
              <a:rPr lang="en-IN" sz="1600" dirty="0"/>
              <a:t>Support identification of employee skill gaps and development opportunities.</a:t>
            </a:r>
          </a:p>
          <a:p>
            <a:pPr lvl="1"/>
            <a:r>
              <a:rPr lang="en-IN" sz="16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Manage Leave and Absence</a:t>
            </a:r>
            <a:r>
              <a:rPr lang="en-IN" sz="1800" dirty="0"/>
              <a:t> </a:t>
            </a:r>
          </a:p>
          <a:p>
            <a:pPr lvl="1"/>
            <a:r>
              <a:rPr lang="en-IN" sz="1600" dirty="0"/>
              <a:t>Record employee leave dates and reasons. </a:t>
            </a:r>
          </a:p>
          <a:p>
            <a:pPr lvl="1"/>
            <a:r>
              <a:rPr lang="en-IN" sz="1600" dirty="0"/>
              <a:t>Track employee leave history. </a:t>
            </a:r>
          </a:p>
          <a:p>
            <a:pPr lvl="1"/>
            <a:r>
              <a:rPr lang="en-IN" sz="1600" dirty="0"/>
              <a:t>Use leave information for payroll-related calculations where applicable.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2C3BA6-0ADC-7251-D60D-5F8C10C980BE}"/>
              </a:ext>
            </a:extLst>
          </p:cNvPr>
          <p:cNvSpPr txBox="1"/>
          <p:nvPr/>
        </p:nvSpPr>
        <p:spPr>
          <a:xfrm>
            <a:off x="198783" y="0"/>
            <a:ext cx="55924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Objective of the Project: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2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D6CAD5FA-6D89-C179-E85E-A4DCE5FC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2C5F2A91-514D-AEF3-9C71-95D20C463DC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8600" y="1351508"/>
            <a:ext cx="103759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How many unique employees are currently in the system?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Which departments have the highest number of employees?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What is the average salary per department?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Who are the top 5 highest-paid employees?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What is the total salary expenditure across the company?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How many different job roles exist in each department?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Which job roles offer the highest salary?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How many employees have at least one qualification listed?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Which employees have taken the most leaves?</a:t>
            </a:r>
            <a:r>
              <a:rPr lang="en-IN" sz="2400" dirty="0"/>
              <a:t>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400" b="1" dirty="0"/>
              <a:t>Which department receives the highest total bonuses?</a:t>
            </a:r>
            <a:endParaRPr lang="en-IN" sz="2400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6AB902-C476-6360-DF18-BB79BF212655}"/>
              </a:ext>
            </a:extLst>
          </p:cNvPr>
          <p:cNvSpPr txBox="1"/>
          <p:nvPr/>
        </p:nvSpPr>
        <p:spPr>
          <a:xfrm>
            <a:off x="228600" y="406400"/>
            <a:ext cx="482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Key Analysis Questions:</a:t>
            </a:r>
            <a:endParaRPr lang="en-I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8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882B12ED-5559-2C2D-6186-F48E36CB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0568826-3C01-D64D-014C-41C89F18C702}"/>
              </a:ext>
            </a:extLst>
          </p:cNvPr>
          <p:cNvSpPr txBox="1"/>
          <p:nvPr/>
        </p:nvSpPr>
        <p:spPr>
          <a:xfrm rot="10800000" flipV="1">
            <a:off x="406400" y="172587"/>
            <a:ext cx="2933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rgbClr val="FF0000"/>
                </a:solidFill>
              </a:rPr>
              <a:t>Schema Diagram : </a:t>
            </a:r>
            <a:endParaRPr lang="en-IN" sz="2000" b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C7255-2611-852D-4735-1C53B263D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322" y="651817"/>
            <a:ext cx="7228732" cy="543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60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3CF9812-8975-B461-CF69-555CF567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5AB2B2-E776-CE3C-CA76-79F82D41707D}"/>
              </a:ext>
            </a:extLst>
          </p:cNvPr>
          <p:cNvSpPr txBox="1"/>
          <p:nvPr/>
        </p:nvSpPr>
        <p:spPr>
          <a:xfrm>
            <a:off x="1978406" y="246945"/>
            <a:ext cx="91732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1.How many unique employees are currently in the system?</a:t>
            </a:r>
            <a:r>
              <a:rPr lang="en-IN" sz="2400" dirty="0"/>
              <a:t> </a:t>
            </a:r>
          </a:p>
          <a:p>
            <a:r>
              <a:rPr lang="en-IN" sz="2400" b="1" dirty="0"/>
              <a:t> 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BA7BC-4454-3C20-B52B-F5EA5A0B504F}"/>
              </a:ext>
            </a:extLst>
          </p:cNvPr>
          <p:cNvSpPr txBox="1"/>
          <p:nvPr/>
        </p:nvSpPr>
        <p:spPr>
          <a:xfrm>
            <a:off x="215829" y="4596166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664DD-0F31-F803-CD47-A9E8202C3372}"/>
              </a:ext>
            </a:extLst>
          </p:cNvPr>
          <p:cNvSpPr txBox="1"/>
          <p:nvPr/>
        </p:nvSpPr>
        <p:spPr>
          <a:xfrm>
            <a:off x="1392169" y="1167638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CB2A73-A2A2-F18F-FDA8-7568C9ACE18F}"/>
              </a:ext>
            </a:extLst>
          </p:cNvPr>
          <p:cNvSpPr txBox="1"/>
          <p:nvPr/>
        </p:nvSpPr>
        <p:spPr>
          <a:xfrm>
            <a:off x="6814855" y="1167638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C8B40-29CC-98E3-E7A8-1D4FB931698D}"/>
              </a:ext>
            </a:extLst>
          </p:cNvPr>
          <p:cNvSpPr txBox="1"/>
          <p:nvPr/>
        </p:nvSpPr>
        <p:spPr>
          <a:xfrm>
            <a:off x="215829" y="5367215"/>
            <a:ext cx="11684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system currently contains </a:t>
            </a:r>
            <a:r>
              <a:rPr lang="en-IN" sz="1800" b="1" dirty="0"/>
              <a:t>60 unique employees</a:t>
            </a:r>
            <a:r>
              <a:rPr lang="en-IN" sz="1800" dirty="0"/>
              <a:t>, indicating that employee records are maintained for the complete workforce in the dataset.</a:t>
            </a:r>
            <a:endParaRPr lang="en-IN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C0CF42-08EB-83A5-510C-A9B907EDD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95" y="2250708"/>
            <a:ext cx="5594806" cy="15203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E4C11D-59F2-497C-A0CF-8B7980598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619" y="2062582"/>
            <a:ext cx="4928346" cy="186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28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9075848-A64A-FA09-EBC5-7D8C21FA8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6A48B8-243B-DC0A-2621-70AE9F418F00}"/>
              </a:ext>
            </a:extLst>
          </p:cNvPr>
          <p:cNvSpPr txBox="1"/>
          <p:nvPr/>
        </p:nvSpPr>
        <p:spPr>
          <a:xfrm>
            <a:off x="1224575" y="4772416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5098C6-3DE2-0684-CF86-D3CAFDA1152B}"/>
              </a:ext>
            </a:extLst>
          </p:cNvPr>
          <p:cNvSpPr txBox="1"/>
          <p:nvPr/>
        </p:nvSpPr>
        <p:spPr>
          <a:xfrm>
            <a:off x="1392169" y="1167638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84D51C-9426-788F-652B-6E7EB729D7A4}"/>
              </a:ext>
            </a:extLst>
          </p:cNvPr>
          <p:cNvSpPr txBox="1"/>
          <p:nvPr/>
        </p:nvSpPr>
        <p:spPr>
          <a:xfrm>
            <a:off x="6814855" y="1167638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E5714-16CC-C99E-4196-C6F0F0D44B81}"/>
              </a:ext>
            </a:extLst>
          </p:cNvPr>
          <p:cNvSpPr txBox="1"/>
          <p:nvPr/>
        </p:nvSpPr>
        <p:spPr>
          <a:xfrm>
            <a:off x="1224575" y="5367215"/>
            <a:ext cx="1067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Employee distribution is </a:t>
            </a:r>
            <a:r>
              <a:rPr lang="en-IN" sz="1800" b="1" dirty="0"/>
              <a:t>not uniform across departments</a:t>
            </a:r>
            <a:r>
              <a:rPr lang="en-IN" sz="1800" dirty="0"/>
              <a:t>. Some departments have a higher concentration of employees, indicating greater workforce requirements in those areas.</a:t>
            </a:r>
            <a:endParaRPr lang="en-IN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E518D-CB48-111E-A9A7-73172DCB865E}"/>
              </a:ext>
            </a:extLst>
          </p:cNvPr>
          <p:cNvSpPr txBox="1"/>
          <p:nvPr/>
        </p:nvSpPr>
        <p:spPr>
          <a:xfrm>
            <a:off x="894522" y="109330"/>
            <a:ext cx="82519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2.Which departments have the highest number of employees?</a:t>
            </a:r>
            <a:r>
              <a:rPr lang="en-IN" sz="24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5E6A68-5E09-DE78-19F4-D77B579CC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13" y="2252020"/>
            <a:ext cx="5552660" cy="15707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6D3F94-B9AD-E6E2-E392-100662110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785" y="1970719"/>
            <a:ext cx="5505749" cy="176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19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0DA3F3B-B091-0BA4-6DFD-56CC55DFD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E8EC93-3299-054C-210A-053EBD49CBBD}"/>
              </a:ext>
            </a:extLst>
          </p:cNvPr>
          <p:cNvSpPr txBox="1"/>
          <p:nvPr/>
        </p:nvSpPr>
        <p:spPr>
          <a:xfrm>
            <a:off x="342829" y="4772414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F8F36-5FC6-8DED-A432-CD5C896EF947}"/>
              </a:ext>
            </a:extLst>
          </p:cNvPr>
          <p:cNvSpPr txBox="1"/>
          <p:nvPr/>
        </p:nvSpPr>
        <p:spPr>
          <a:xfrm>
            <a:off x="1366769" y="1625537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520CE-EF33-ECFE-2B2A-306C45BB7120}"/>
              </a:ext>
            </a:extLst>
          </p:cNvPr>
          <p:cNvSpPr txBox="1"/>
          <p:nvPr/>
        </p:nvSpPr>
        <p:spPr>
          <a:xfrm>
            <a:off x="6814855" y="1625537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532A0-BCC0-0D2E-3F12-F1799AADB0BF}"/>
              </a:ext>
            </a:extLst>
          </p:cNvPr>
          <p:cNvSpPr txBox="1"/>
          <p:nvPr/>
        </p:nvSpPr>
        <p:spPr>
          <a:xfrm>
            <a:off x="342829" y="5367215"/>
            <a:ext cx="11557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Average salary </a:t>
            </a:r>
            <a:r>
              <a:rPr lang="en-IN" sz="1800" b="1" dirty="0"/>
              <a:t>varies by department</a:t>
            </a:r>
            <a:r>
              <a:rPr lang="en-IN" sz="1800" dirty="0"/>
              <a:t>, mainly because different departments contain different job roles and salary levels. Higher-level technical and managerial roles generally contribute to higher departmental averages.</a:t>
            </a:r>
            <a:endParaRPr lang="en-IN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E06AFF-9DB8-80D3-174B-3B8048427769}"/>
              </a:ext>
            </a:extLst>
          </p:cNvPr>
          <p:cNvSpPr txBox="1"/>
          <p:nvPr/>
        </p:nvSpPr>
        <p:spPr>
          <a:xfrm>
            <a:off x="785961" y="447262"/>
            <a:ext cx="83605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3.What is the average salary per department?</a:t>
            </a:r>
            <a:r>
              <a:rPr lang="en-IN" sz="24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844FA9-6263-ECCC-A244-CE0627BA9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29" y="2711479"/>
            <a:ext cx="6236875" cy="7843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02BB48-3E84-4A12-E3D3-548813D75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944" y="2182213"/>
            <a:ext cx="3775129" cy="296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922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93A8F07-79AF-86AB-534C-8A8391FC7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D25C75A-3B8F-724F-2E9B-E7A45B6D2B4E}"/>
              </a:ext>
            </a:extLst>
          </p:cNvPr>
          <p:cNvSpPr txBox="1"/>
          <p:nvPr/>
        </p:nvSpPr>
        <p:spPr>
          <a:xfrm>
            <a:off x="441449" y="4772415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3DAF6-C732-575B-2130-0B88F4540FBB}"/>
              </a:ext>
            </a:extLst>
          </p:cNvPr>
          <p:cNvSpPr txBox="1"/>
          <p:nvPr/>
        </p:nvSpPr>
        <p:spPr>
          <a:xfrm>
            <a:off x="1354069" y="1352304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6077D-442C-1FEC-BEA8-0AF4D34C4D49}"/>
              </a:ext>
            </a:extLst>
          </p:cNvPr>
          <p:cNvSpPr txBox="1"/>
          <p:nvPr/>
        </p:nvSpPr>
        <p:spPr>
          <a:xfrm>
            <a:off x="6878355" y="1352304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384094-D310-97BF-3453-61B03F3C1D6B}"/>
              </a:ext>
            </a:extLst>
          </p:cNvPr>
          <p:cNvSpPr txBox="1"/>
          <p:nvPr/>
        </p:nvSpPr>
        <p:spPr>
          <a:xfrm>
            <a:off x="431510" y="5367215"/>
            <a:ext cx="116840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top-paid employees are associated with </a:t>
            </a:r>
            <a:r>
              <a:rPr lang="en-IN" sz="1800" b="1" dirty="0"/>
              <a:t>senior, managerial, or specialized positions</a:t>
            </a:r>
            <a:r>
              <a:rPr lang="en-IN" sz="1800" dirty="0"/>
              <a:t>, showing that compensation increases with responsibility, experience, and job specialization.</a:t>
            </a:r>
            <a:endParaRPr lang="en-IN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84CDE4-F158-9606-457B-A4E3DD4BFE82}"/>
              </a:ext>
            </a:extLst>
          </p:cNvPr>
          <p:cNvSpPr txBox="1"/>
          <p:nvPr/>
        </p:nvSpPr>
        <p:spPr>
          <a:xfrm>
            <a:off x="623962" y="258418"/>
            <a:ext cx="8522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4.Who are the top 5 highest-paid employees?</a:t>
            </a:r>
            <a:r>
              <a:rPr lang="en-IN" sz="24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60F153-295A-7AA1-15D1-6D69BB55B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48" y="2435055"/>
            <a:ext cx="5625548" cy="81197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641E10-504B-9CE1-191F-DEF2AFD92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623" y="2234165"/>
            <a:ext cx="5633229" cy="262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5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20272F5-9B2E-7107-5004-53EF17FD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F31ADF-A265-7A0B-68CF-510E9ED36DE9}"/>
              </a:ext>
            </a:extLst>
          </p:cNvPr>
          <p:cNvSpPr txBox="1"/>
          <p:nvPr/>
        </p:nvSpPr>
        <p:spPr>
          <a:xfrm>
            <a:off x="215829" y="5005971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022639-99AA-FF6E-4674-F45DBBEE8D6B}"/>
              </a:ext>
            </a:extLst>
          </p:cNvPr>
          <p:cNvSpPr txBox="1"/>
          <p:nvPr/>
        </p:nvSpPr>
        <p:spPr>
          <a:xfrm>
            <a:off x="1440201" y="1146402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7D9364-47A4-62D6-D143-6185E752F2EF}"/>
              </a:ext>
            </a:extLst>
          </p:cNvPr>
          <p:cNvSpPr txBox="1"/>
          <p:nvPr/>
        </p:nvSpPr>
        <p:spPr>
          <a:xfrm>
            <a:off x="6852955" y="1136230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57B8D-C7E0-7E1A-D20A-E0D2A2DDFAEE}"/>
              </a:ext>
            </a:extLst>
          </p:cNvPr>
          <p:cNvSpPr txBox="1"/>
          <p:nvPr/>
        </p:nvSpPr>
        <p:spPr>
          <a:xfrm>
            <a:off x="215829" y="5375303"/>
            <a:ext cx="116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company has a significant overall payroll expenditure because compensation is distributed across </a:t>
            </a:r>
            <a:r>
              <a:rPr lang="en-IN" sz="1800" b="1" dirty="0"/>
              <a:t>60 employees and multiple job roles</a:t>
            </a:r>
            <a:r>
              <a:rPr lang="en-IN" sz="1800" dirty="0"/>
              <a:t>.</a:t>
            </a:r>
            <a:endParaRPr lang="en-IN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ACF4D-F544-FC93-D954-B00B26AE96A1}"/>
              </a:ext>
            </a:extLst>
          </p:cNvPr>
          <p:cNvSpPr txBox="1"/>
          <p:nvPr/>
        </p:nvSpPr>
        <p:spPr>
          <a:xfrm>
            <a:off x="696162" y="352512"/>
            <a:ext cx="9242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5.What is the total salary expenditure across the company?</a:t>
            </a:r>
            <a:r>
              <a:rPr lang="en-IN" sz="2400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8B69F2-85CB-E0D4-DE9E-57B07E58F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11" y="2250775"/>
            <a:ext cx="5540176" cy="9233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476E2D2-E9A4-0675-0F62-1D441DF96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865" y="2120213"/>
            <a:ext cx="6095998" cy="179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21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136BB296-E99B-59B9-4902-36CDCE0BD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50CFCB-0990-E4F3-ACA3-B484D65A98C5}"/>
              </a:ext>
            </a:extLst>
          </p:cNvPr>
          <p:cNvSpPr txBox="1"/>
          <p:nvPr/>
        </p:nvSpPr>
        <p:spPr>
          <a:xfrm>
            <a:off x="606549" y="4766687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1A1B0-B546-DB6B-C063-C3D74E75CD65}"/>
              </a:ext>
            </a:extLst>
          </p:cNvPr>
          <p:cNvSpPr txBox="1"/>
          <p:nvPr/>
        </p:nvSpPr>
        <p:spPr>
          <a:xfrm>
            <a:off x="1392169" y="1030787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A6E7C-2EE1-871B-5E1C-2484BF94D195}"/>
              </a:ext>
            </a:extLst>
          </p:cNvPr>
          <p:cNvSpPr txBox="1"/>
          <p:nvPr/>
        </p:nvSpPr>
        <p:spPr>
          <a:xfrm>
            <a:off x="6764055" y="1026836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10E1F0-BDF2-5337-856D-9A77D70DA6CC}"/>
              </a:ext>
            </a:extLst>
          </p:cNvPr>
          <p:cNvSpPr txBox="1"/>
          <p:nvPr/>
        </p:nvSpPr>
        <p:spPr>
          <a:xfrm>
            <a:off x="720200" y="5247710"/>
            <a:ext cx="10675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organization has </a:t>
            </a:r>
            <a:r>
              <a:rPr lang="en-IN" sz="1800" b="1" dirty="0"/>
              <a:t>multiple job roles across departments</a:t>
            </a:r>
            <a:r>
              <a:rPr lang="en-IN" sz="1800" dirty="0"/>
              <a:t>, showing a structured hierarchy with roles ranging from entry-level positions to senior management and specialized positions.</a:t>
            </a:r>
            <a:endParaRPr lang="en-IN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67E79-81F9-F52D-ADCF-D425C60C88B5}"/>
              </a:ext>
            </a:extLst>
          </p:cNvPr>
          <p:cNvSpPr txBox="1"/>
          <p:nvPr/>
        </p:nvSpPr>
        <p:spPr>
          <a:xfrm>
            <a:off x="720200" y="208722"/>
            <a:ext cx="9447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6.How many different job roles exist in each department?</a:t>
            </a:r>
            <a:r>
              <a:rPr lang="en-IN" sz="2400" dirty="0"/>
              <a:t> </a:t>
            </a:r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A9556EA-24EA-E321-EF3F-E514BB0A5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237" y="2410937"/>
            <a:ext cx="5384190" cy="615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B538B2-AB25-E146-8439-BD1220B29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255" y="1762556"/>
            <a:ext cx="3574761" cy="297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2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E5B4CE2-84AD-E443-5E47-D6F06844A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9353333-95AF-9DDF-E26F-F4A81046D210}"/>
              </a:ext>
            </a:extLst>
          </p:cNvPr>
          <p:cNvSpPr txBox="1"/>
          <p:nvPr/>
        </p:nvSpPr>
        <p:spPr>
          <a:xfrm>
            <a:off x="441449" y="4895815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5A0172-44BC-8787-4CEB-099400A9C20E}"/>
              </a:ext>
            </a:extLst>
          </p:cNvPr>
          <p:cNvSpPr txBox="1"/>
          <p:nvPr/>
        </p:nvSpPr>
        <p:spPr>
          <a:xfrm>
            <a:off x="1354069" y="1352304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D2A2BE-679C-2A58-52DD-20CB89B531CE}"/>
              </a:ext>
            </a:extLst>
          </p:cNvPr>
          <p:cNvSpPr txBox="1"/>
          <p:nvPr/>
        </p:nvSpPr>
        <p:spPr>
          <a:xfrm>
            <a:off x="6878355" y="1352304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ACC99-B531-F8FA-30E8-4127CB1EAD25}"/>
              </a:ext>
            </a:extLst>
          </p:cNvPr>
          <p:cNvSpPr txBox="1"/>
          <p:nvPr/>
        </p:nvSpPr>
        <p:spPr>
          <a:xfrm>
            <a:off x="215829" y="5367215"/>
            <a:ext cx="116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Senior management, leadership, and highly specialized technical roles</a:t>
            </a:r>
            <a:r>
              <a:rPr lang="en-IN" sz="1800" dirty="0"/>
              <a:t> tend to offer the highest salaries because they require greater expertise, experience, and responsibility.</a:t>
            </a:r>
            <a:endParaRPr lang="en-IN" sz="1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8994B-1F80-4170-B168-68FFDD8899F6}"/>
              </a:ext>
            </a:extLst>
          </p:cNvPr>
          <p:cNvSpPr txBox="1"/>
          <p:nvPr/>
        </p:nvSpPr>
        <p:spPr>
          <a:xfrm>
            <a:off x="780699" y="258452"/>
            <a:ext cx="7419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7. Which job roles offer the highest salary?</a:t>
            </a:r>
            <a:r>
              <a:rPr lang="en-IN" sz="2400" dirty="0"/>
              <a:t>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1A455A-6056-259D-F9C6-06A021D25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813" y="1721636"/>
            <a:ext cx="3627783" cy="30988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184C13-970B-E582-D097-F150EA903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9396" y="2575244"/>
            <a:ext cx="5769642" cy="1229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5015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CAAF15CB-90DE-E5EC-A046-672A69E7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EEAC0C3-E5A0-FA0A-4F30-1E0B616E7D91}"/>
              </a:ext>
            </a:extLst>
          </p:cNvPr>
          <p:cNvSpPr txBox="1"/>
          <p:nvPr/>
        </p:nvSpPr>
        <p:spPr>
          <a:xfrm>
            <a:off x="215828" y="246945"/>
            <a:ext cx="11684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Arial Black" panose="020B0A04020102020204" pitchFamily="34" charset="0"/>
              </a:rPr>
              <a:t>8.How many employees have at least one qualification listed?</a:t>
            </a:r>
            <a:endParaRPr lang="en-IN" sz="20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21B304-0535-C28F-1073-452DEC8F1D21}"/>
              </a:ext>
            </a:extLst>
          </p:cNvPr>
          <p:cNvSpPr txBox="1"/>
          <p:nvPr/>
        </p:nvSpPr>
        <p:spPr>
          <a:xfrm>
            <a:off x="215828" y="4896511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904D3-CD02-A1B9-1054-592917B3FC70}"/>
              </a:ext>
            </a:extLst>
          </p:cNvPr>
          <p:cNvSpPr txBox="1"/>
          <p:nvPr/>
        </p:nvSpPr>
        <p:spPr>
          <a:xfrm>
            <a:off x="1082905" y="909396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62FD82-1475-6FB7-1A08-51F6BA45C83C}"/>
              </a:ext>
            </a:extLst>
          </p:cNvPr>
          <p:cNvSpPr txBox="1"/>
          <p:nvPr/>
        </p:nvSpPr>
        <p:spPr>
          <a:xfrm>
            <a:off x="7028480" y="909396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6B64FE-4238-DE09-B6B2-9F368DC6C2C5}"/>
              </a:ext>
            </a:extLst>
          </p:cNvPr>
          <p:cNvSpPr txBox="1"/>
          <p:nvPr/>
        </p:nvSpPr>
        <p:spPr>
          <a:xfrm>
            <a:off x="215829" y="5367215"/>
            <a:ext cx="116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All 60 employees</a:t>
            </a:r>
            <a:r>
              <a:rPr lang="en-IN" sz="1800" dirty="0"/>
              <a:t> have a qualification record in the provided </a:t>
            </a:r>
            <a:r>
              <a:rPr lang="en-IN" dirty="0"/>
              <a:t>Qualification</a:t>
            </a:r>
            <a:r>
              <a:rPr lang="en-IN" sz="1800" dirty="0"/>
              <a:t> table, meaning </a:t>
            </a:r>
            <a:r>
              <a:rPr lang="en-IN" sz="1800" b="1" dirty="0"/>
              <a:t>100% of employees</a:t>
            </a:r>
            <a:r>
              <a:rPr lang="en-IN" sz="1800" dirty="0"/>
              <a:t> have at least one qualification listed.</a:t>
            </a:r>
            <a:endParaRPr lang="en-IN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F0DFE9-E1F7-D608-7D1E-631BAC592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09408"/>
            <a:ext cx="6003235" cy="9782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7C9D6B-58F2-A77C-EBCF-2704B0E32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8307" y="2109408"/>
            <a:ext cx="5414727" cy="1027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637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2CF965E3-70C2-B185-109B-B1115D9E6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9F16CC1-3EF7-E733-C8CE-DE5011A325F0}"/>
              </a:ext>
            </a:extLst>
          </p:cNvPr>
          <p:cNvSpPr txBox="1"/>
          <p:nvPr/>
        </p:nvSpPr>
        <p:spPr>
          <a:xfrm>
            <a:off x="441449" y="4941806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8886C-CC2A-D6C5-B418-CCA3CBC0A9A7}"/>
              </a:ext>
            </a:extLst>
          </p:cNvPr>
          <p:cNvSpPr txBox="1"/>
          <p:nvPr/>
        </p:nvSpPr>
        <p:spPr>
          <a:xfrm>
            <a:off x="441449" y="1335897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2FAAE3-E2D0-8B6B-5A0C-CF94F3094FDA}"/>
              </a:ext>
            </a:extLst>
          </p:cNvPr>
          <p:cNvSpPr txBox="1"/>
          <p:nvPr/>
        </p:nvSpPr>
        <p:spPr>
          <a:xfrm>
            <a:off x="6878355" y="1352304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B76416-D179-77C2-1A7C-EA0070878D39}"/>
              </a:ext>
            </a:extLst>
          </p:cNvPr>
          <p:cNvSpPr txBox="1"/>
          <p:nvPr/>
        </p:nvSpPr>
        <p:spPr>
          <a:xfrm>
            <a:off x="215829" y="5367215"/>
            <a:ext cx="116840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In the current </a:t>
            </a:r>
            <a:r>
              <a:rPr lang="en-IN" dirty="0" err="1"/>
              <a:t>LeaveTable</a:t>
            </a:r>
            <a:r>
              <a:rPr lang="en-IN" sz="2000" dirty="0"/>
              <a:t>, </a:t>
            </a:r>
            <a:r>
              <a:rPr lang="en-IN" sz="2000" b="1" dirty="0"/>
              <a:t>each employee has exactly one leave record</a:t>
            </a:r>
            <a:r>
              <a:rPr lang="en-IN" sz="2000" dirty="0"/>
              <a:t>, so no single employee has taken more leaves than the others. All 60 employees are tied with </a:t>
            </a:r>
            <a:r>
              <a:rPr lang="en-IN" sz="2000" b="1" dirty="0"/>
              <a:t>1 leave record</a:t>
            </a:r>
            <a:r>
              <a:rPr lang="en-IN" sz="2000" dirty="0"/>
              <a:t>.</a:t>
            </a:r>
            <a:endParaRPr lang="en-IN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9F321A-7C62-FB1A-04E1-66571AB614A9}"/>
              </a:ext>
            </a:extLst>
          </p:cNvPr>
          <p:cNvSpPr txBox="1"/>
          <p:nvPr/>
        </p:nvSpPr>
        <p:spPr>
          <a:xfrm>
            <a:off x="616226" y="248478"/>
            <a:ext cx="8530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9.Which employees have taken the most leaves?</a:t>
            </a:r>
            <a:r>
              <a:rPr lang="en-IN" sz="2400" dirty="0"/>
              <a:t>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2D61CD-3B9D-82ED-ECD8-62F8A42A1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29" y="1926133"/>
            <a:ext cx="5744817" cy="25186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D634169-F2E2-7F7F-53E5-3C3D18FF9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101" y="2111877"/>
            <a:ext cx="2507383" cy="26342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EF9700-23ED-0288-8A57-854B00B479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7081" y="2111877"/>
            <a:ext cx="1865780" cy="266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5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B4B836FF-57A9-88A4-F379-FE59C2E5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020DED-394E-BCA7-8CAA-3E972D3A72D1}"/>
              </a:ext>
            </a:extLst>
          </p:cNvPr>
          <p:cNvSpPr txBox="1"/>
          <p:nvPr/>
        </p:nvSpPr>
        <p:spPr>
          <a:xfrm>
            <a:off x="441449" y="4848119"/>
            <a:ext cx="3217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Key Insight :-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DE6155-DBB7-C030-9558-93C8BD887311}"/>
              </a:ext>
            </a:extLst>
          </p:cNvPr>
          <p:cNvSpPr txBox="1"/>
          <p:nvPr/>
        </p:nvSpPr>
        <p:spPr>
          <a:xfrm>
            <a:off x="215828" y="1092756"/>
            <a:ext cx="230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Query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D0ADEB-D8FA-0D7B-3457-1256843CD943}"/>
              </a:ext>
            </a:extLst>
          </p:cNvPr>
          <p:cNvSpPr txBox="1"/>
          <p:nvPr/>
        </p:nvSpPr>
        <p:spPr>
          <a:xfrm>
            <a:off x="6878355" y="1352304"/>
            <a:ext cx="261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50"/>
                </a:solidFill>
              </a:rPr>
              <a:t>Output :</a:t>
            </a:r>
            <a:endParaRPr lang="en-IN" sz="1800" b="1" dirty="0">
              <a:solidFill>
                <a:srgbClr val="00B05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32603A-A040-C9B0-30AD-32D2C128035A}"/>
              </a:ext>
            </a:extLst>
          </p:cNvPr>
          <p:cNvSpPr txBox="1"/>
          <p:nvPr/>
        </p:nvSpPr>
        <p:spPr>
          <a:xfrm>
            <a:off x="215829" y="5367215"/>
            <a:ext cx="116840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department with the highest total bonus depends on the </a:t>
            </a:r>
            <a:r>
              <a:rPr lang="en-IN" dirty="0" err="1"/>
              <a:t>SalaryBonus</a:t>
            </a:r>
            <a:r>
              <a:rPr lang="en-IN" sz="1800" dirty="0"/>
              <a:t> data. Typically, departments with </a:t>
            </a:r>
            <a:r>
              <a:rPr lang="en-IN" sz="1800" b="1" dirty="0"/>
              <a:t>more employees and/or higher-paid senior positions</a:t>
            </a:r>
            <a:r>
              <a:rPr lang="en-IN" sz="1800" dirty="0"/>
              <a:t> will have a larger total bonus allocation.</a:t>
            </a:r>
            <a:endParaRPr lang="en-IN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45DF7-0505-E819-18D0-5081A777CC48}"/>
              </a:ext>
            </a:extLst>
          </p:cNvPr>
          <p:cNvSpPr txBox="1"/>
          <p:nvPr/>
        </p:nvSpPr>
        <p:spPr>
          <a:xfrm>
            <a:off x="441449" y="129210"/>
            <a:ext cx="8705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400" b="1" dirty="0"/>
              <a:t>10.Which department receives the highest total bonuses?</a:t>
            </a:r>
            <a:endParaRPr lang="en-IN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94AD3D-BDBF-13F4-3CA1-26D1E7104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637" y="1552541"/>
            <a:ext cx="5843020" cy="29434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DFF6E0-E1C0-BF4A-9B9C-37E7E988E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656" y="1837282"/>
            <a:ext cx="3888630" cy="34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646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91E53DA-8BDC-C841-FBC6-95314536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7DF0F4-220E-ABCF-3329-EFFC46BB5F3E}"/>
              </a:ext>
            </a:extLst>
          </p:cNvPr>
          <p:cNvSpPr txBox="1"/>
          <p:nvPr/>
        </p:nvSpPr>
        <p:spPr>
          <a:xfrm>
            <a:off x="827963" y="428188"/>
            <a:ext cx="39078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B0F0"/>
                </a:solidFill>
              </a:rPr>
              <a:t>Conclusion:-</a:t>
            </a:r>
            <a:endParaRPr lang="en-IN" sz="3200" b="1" dirty="0">
              <a:solidFill>
                <a:srgbClr val="00B0F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EF9D6-ADEA-089A-2AE6-9DFADCD479C6}"/>
              </a:ext>
            </a:extLst>
          </p:cNvPr>
          <p:cNvSpPr txBox="1"/>
          <p:nvPr/>
        </p:nvSpPr>
        <p:spPr>
          <a:xfrm>
            <a:off x="427383" y="1143000"/>
            <a:ext cx="11400182" cy="5699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The </a:t>
            </a:r>
            <a:r>
              <a:rPr lang="en-IN" sz="1800" b="1" dirty="0"/>
              <a:t>Employee Management System</a:t>
            </a:r>
            <a:r>
              <a:rPr lang="en-IN" sz="1800" dirty="0"/>
              <a:t> successfully provides a structured way to manage and </a:t>
            </a:r>
            <a:r>
              <a:rPr lang="en-IN" sz="1800" dirty="0" err="1"/>
              <a:t>analyze</a:t>
            </a:r>
            <a:r>
              <a:rPr lang="en-IN" sz="1800" dirty="0"/>
              <a:t> employee-related information within an organization. The system integrates </a:t>
            </a:r>
            <a:r>
              <a:rPr lang="en-IN" sz="1800" b="1" dirty="0"/>
              <a:t>employee details, job roles, departments, salaries, qualifications, leave records, and payroll information</a:t>
            </a:r>
            <a:r>
              <a:rPr lang="en-IN" sz="1800" dirty="0"/>
              <a:t> using relational database concepts.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The analysis of the system provides valuable insights into </a:t>
            </a:r>
            <a:r>
              <a:rPr lang="en-IN" sz="1800" b="1" dirty="0"/>
              <a:t>employee distribution across departments, average salaries, highest-paid employees, job roles, employee qualifications, leave patterns, and bonus allocation</a:t>
            </a:r>
            <a:r>
              <a:rPr lang="en-IN" sz="1800" dirty="0"/>
              <a:t>. These insights can help HR teams understand workforce structure, monitor compensation, track employee skills, and manage employee absences more effectively.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The project also demonstrates the practical use of important </a:t>
            </a:r>
            <a:r>
              <a:rPr lang="en-IN" sz="1800" b="1" dirty="0"/>
              <a:t>SQL concepts such as JOIN, GROUP BY, COUNT, SUM, AVG, ORDER BY, DISTINCT, and LIMIT</a:t>
            </a:r>
            <a:r>
              <a:rPr lang="en-IN" sz="1800" dirty="0"/>
              <a:t> to extract meaningful information from organizational data.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800" dirty="0"/>
              <a:t>Overall, the Employee Management System improves </a:t>
            </a:r>
            <a:r>
              <a:rPr lang="en-IN" sz="1800" b="1" dirty="0"/>
              <a:t>data organization, accuracy, accessibility, and decision-making</a:t>
            </a:r>
            <a:r>
              <a:rPr lang="en-IN" sz="1800" dirty="0"/>
              <a:t>, making HR operations more efficient and supporting better workforce and compensation management.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6997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E42D5191-D6DD-1E4F-CDB3-38DE5971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E37E6BF-0865-B028-48CE-1B5A0C301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895" y="1716053"/>
            <a:ext cx="1087331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Gained practical experience in </a:t>
            </a:r>
            <a:r>
              <a:rPr lang="en-IN" sz="2000" b="1" dirty="0"/>
              <a:t>MySQL and relational database management</a:t>
            </a:r>
            <a:r>
              <a:rPr lang="en-IN" sz="2000" dirty="0"/>
              <a:t> by creating and managing multiple interconnected tables. </a:t>
            </a:r>
          </a:p>
          <a:p>
            <a:pPr lvl="0"/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Learned how to use </a:t>
            </a:r>
            <a:r>
              <a:rPr lang="en-IN" sz="2000" b="1" dirty="0"/>
              <a:t>SQL queries, JOINs, GROUP BY, COUNT, AVG, SUM, and ORDER BY</a:t>
            </a:r>
            <a:r>
              <a:rPr lang="en-IN" sz="2000" dirty="0"/>
              <a:t> to </a:t>
            </a:r>
            <a:r>
              <a:rPr lang="en-IN" sz="2000" dirty="0" err="1"/>
              <a:t>analyze</a:t>
            </a:r>
            <a:r>
              <a:rPr lang="en-IN" sz="2000" dirty="0"/>
              <a:t> employee and payroll data.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Designing the correct </a:t>
            </a:r>
            <a:r>
              <a:rPr lang="en-IN" sz="2000" b="1" dirty="0"/>
              <a:t>relationships between multiple tables</a:t>
            </a:r>
            <a:r>
              <a:rPr lang="en-IN" sz="2000" dirty="0"/>
              <a:t> using primary and foreign keys.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/>
              <a:t>Writing </a:t>
            </a:r>
            <a:r>
              <a:rPr lang="en-IN" sz="2000" b="1" dirty="0"/>
              <a:t>complex JOIN queries</a:t>
            </a:r>
            <a:r>
              <a:rPr lang="en-IN" sz="2000" dirty="0"/>
              <a:t> to combine employee, job, department, salary, leave, and payroll information.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/>
              <a:t>Performing </a:t>
            </a:r>
            <a:r>
              <a:rPr lang="en-IN" sz="2000" b="1" dirty="0"/>
              <a:t>department-wise salary, employee, qualification, and leave analysis</a:t>
            </a:r>
            <a:r>
              <a:rPr lang="en-IN" sz="2000" dirty="0"/>
              <a:t> using aggregate functions.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F8D548-850A-A001-A836-55B1B47A8798}"/>
              </a:ext>
            </a:extLst>
          </p:cNvPr>
          <p:cNvSpPr txBox="1"/>
          <p:nvPr/>
        </p:nvSpPr>
        <p:spPr>
          <a:xfrm>
            <a:off x="636895" y="383964"/>
            <a:ext cx="78929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B0F0"/>
                </a:solidFill>
              </a:rPr>
              <a:t>Our Experience / Challenges Working</a:t>
            </a:r>
          </a:p>
        </p:txBody>
      </p:sp>
    </p:spTree>
    <p:extLst>
      <p:ext uri="{BB962C8B-B14F-4D97-AF65-F5344CB8AC3E}">
        <p14:creationId xmlns:p14="http://schemas.microsoft.com/office/powerpoint/2010/main" val="1455245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1757" y="1861900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1052</Words>
  <Application>Microsoft Office PowerPoint</Application>
  <PresentationFormat>Widescreen</PresentationFormat>
  <Paragraphs>134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 Black</vt:lpstr>
      <vt:lpstr>Calibri</vt:lpstr>
      <vt:lpstr>Arial</vt:lpstr>
      <vt:lpstr>Lato Black</vt:lpstr>
      <vt:lpstr>Libre Baskerville</vt:lpstr>
      <vt:lpstr>Wingdings</vt:lpstr>
      <vt:lpstr>Office Theme</vt:lpstr>
      <vt:lpstr>PowerPoint Presentation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Alugu Srivardhan</cp:lastModifiedBy>
  <cp:revision>25</cp:revision>
  <dcterms:created xsi:type="dcterms:W3CDTF">2021-02-16T05:19:01Z</dcterms:created>
  <dcterms:modified xsi:type="dcterms:W3CDTF">2026-07-30T14:42:27Z</dcterms:modified>
</cp:coreProperties>
</file>